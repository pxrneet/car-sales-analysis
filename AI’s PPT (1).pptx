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10287000" cx="18288000"/>
  <p:notesSz cx="6858000" cy="9144000"/>
  <p:embeddedFontLst>
    <p:embeddedFont>
      <p:font typeface="Arimo"/>
      <p:bold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0" roundtripDataSignature="AMtx7mjFVRXOQlg9hKdBgL2PtUNRhnuN/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Arimo-boldItalic.fntdata"/><Relationship Id="rId6" Type="http://schemas.openxmlformats.org/officeDocument/2006/relationships/slide" Target="slides/slide1.xml"/><Relationship Id="rId18" Type="http://schemas.openxmlformats.org/officeDocument/2006/relationships/font" Target="fonts/Arim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3" name="Google Shape;93;p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94" name="Google Shape;94;p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Image source: https://www.shutterstock.com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96" name="Google Shape;96;p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7" name="Google Shape;97;p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7" name="Google Shape;107;p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08" name="Google Shape;108;p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Image source: https://thumbs.dreamstime.com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110" name="Google Shape;110;p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11" name="Google Shape;111;p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20" name="Google Shape;120;p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21" name="Google Shape;121;p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Image source: https://thumbs.dreamstime.com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123" name="Google Shape;123;p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24" name="Google Shape;124;p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2" name="Google Shape;132;p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33" name="Google Shape;133;p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Image source: https://history.computer.org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endParaRPr/>
          </a:p>
        </p:txBody>
      </p:sp>
      <p:sp>
        <p:nvSpPr>
          <p:cNvPr id="135" name="Google Shape;135;p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6" name="Google Shape;136;p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4" name="Google Shape;144;p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45" name="Google Shape;145;p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Image source: https://thumbs.dreamstime.com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147" name="Google Shape;147;p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8" name="Google Shape;148;p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6" name="Google Shape;156;p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57" name="Google Shape;157;p7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Image source: https://thumbs.dreamstime.com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159" name="Google Shape;159;p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0" name="Google Shape;160;p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7" name="Google Shape;167;p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68" name="Google Shape;168;p8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Image source: https://thumbs.dreamstime.com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170" name="Google Shape;170;p8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1" name="Google Shape;171;p8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8" name="Google Shape;178;p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79" name="Google Shape;179;p9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Image source: https://thumbs.dreamstime.com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181" name="Google Shape;181;p9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82" name="Google Shape;182;p9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89" name="Google Shape;189;p1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90" name="Google Shape;190;p10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1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Image source: https://thumbs.dreamstime.com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192" name="Google Shape;192;p10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93" name="Google Shape;193;p10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00" name="Google Shape;200;p1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01" name="Google Shape;201;p1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1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Image source: https://thumbs.dreamstime.com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203" name="Google Shape;203;p1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04" name="Google Shape;204;p1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2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A6A6A6"/>
            </a:gs>
            <a:gs pos="100000">
              <a:srgbClr val="FFFFFF"/>
            </a:gs>
          </a:gsLst>
          <a:lin ang="0" scaled="0"/>
        </a:gra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5468860" y="704096"/>
            <a:ext cx="6839807" cy="2954655"/>
          </a:xfrm>
          <a:custGeom>
            <a:rect b="b" l="l" r="r" t="t"/>
            <a:pathLst>
              <a:path extrusionOk="0" h="3939540" w="9119743">
                <a:moveTo>
                  <a:pt x="0" y="0"/>
                </a:moveTo>
                <a:lnTo>
                  <a:pt x="9119743" y="0"/>
                </a:lnTo>
                <a:lnTo>
                  <a:pt x="9119743" y="3939540"/>
                </a:lnTo>
                <a:lnTo>
                  <a:pt x="0" y="39395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p1"/>
          <p:cNvSpPr txBox="1"/>
          <p:nvPr/>
        </p:nvSpPr>
        <p:spPr>
          <a:xfrm>
            <a:off x="3047880" y="6843837"/>
            <a:ext cx="11630655" cy="2543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41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Submitted By </a:t>
            </a:r>
            <a:r>
              <a:rPr b="0" i="0" lang="en-US" sz="4141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Parneet Kaur Dhillon </a:t>
            </a:r>
            <a:endParaRPr/>
          </a:p>
          <a:p>
            <a:pPr indent="0" lvl="0" marL="0" marR="0" rtl="0" algn="ctr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41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( 72512933)</a:t>
            </a:r>
            <a:endParaRPr/>
          </a:p>
          <a:p>
            <a:pPr indent="0" lvl="0" marL="0" marR="0" rtl="0" algn="ctr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41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Shubhda Sharma</a:t>
            </a:r>
            <a:endParaRPr/>
          </a:p>
          <a:p>
            <a:pPr indent="0" lvl="0" marL="0" marR="0" rtl="0" algn="ctr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41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(72518599)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5880225" y="4679227"/>
            <a:ext cx="6111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Data visualization with Python</a:t>
            </a:r>
            <a:endParaRPr sz="3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A6A6A6"/>
            </a:gs>
            <a:gs pos="100000">
              <a:srgbClr val="FFFFFF"/>
            </a:gs>
          </a:gsLst>
          <a:lin ang="0" scaled="0"/>
        </a:gra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2"/>
          <p:cNvGrpSpPr/>
          <p:nvPr/>
        </p:nvGrpSpPr>
        <p:grpSpPr>
          <a:xfrm>
            <a:off x="5461511" y="-2426029"/>
            <a:ext cx="65907011" cy="6647912"/>
            <a:chOff x="0" y="-19050"/>
            <a:chExt cx="21945600" cy="2213610"/>
          </a:xfrm>
        </p:grpSpPr>
        <p:sp>
          <p:nvSpPr>
            <p:cNvPr id="100" name="Google Shape;100;p2"/>
            <p:cNvSpPr/>
            <p:nvPr/>
          </p:nvSpPr>
          <p:spPr>
            <a:xfrm>
              <a:off x="0" y="0"/>
              <a:ext cx="21945600" cy="2194560"/>
            </a:xfrm>
            <a:custGeom>
              <a:rect b="b" l="l" r="r" t="t"/>
              <a:pathLst>
                <a:path extrusionOk="0" h="21945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94560"/>
                  </a:lnTo>
                  <a:lnTo>
                    <a:pt x="0" y="2194560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101" name="Google Shape;101;p2"/>
            <p:cNvSpPr txBox="1"/>
            <p:nvPr/>
          </p:nvSpPr>
          <p:spPr>
            <a:xfrm>
              <a:off x="0" y="-19050"/>
              <a:ext cx="21945600" cy="2213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8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Data Description </a:t>
              </a:r>
              <a:endParaRPr/>
            </a:p>
          </p:txBody>
        </p:sp>
      </p:grpSp>
      <p:sp>
        <p:nvSpPr>
          <p:cNvPr id="102" name="Google Shape;102;p2"/>
          <p:cNvSpPr/>
          <p:nvPr/>
        </p:nvSpPr>
        <p:spPr>
          <a:xfrm>
            <a:off x="2597806" y="1626887"/>
            <a:ext cx="11559875" cy="5245293"/>
          </a:xfrm>
          <a:custGeom>
            <a:rect b="b" l="l" r="r" t="t"/>
            <a:pathLst>
              <a:path extrusionOk="0" h="5245293" w="11559875">
                <a:moveTo>
                  <a:pt x="0" y="0"/>
                </a:moveTo>
                <a:lnTo>
                  <a:pt x="11559874" y="0"/>
                </a:lnTo>
                <a:lnTo>
                  <a:pt x="11559874" y="5245293"/>
                </a:lnTo>
                <a:lnTo>
                  <a:pt x="0" y="52452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2"/>
          <p:cNvSpPr txBox="1"/>
          <p:nvPr/>
        </p:nvSpPr>
        <p:spPr>
          <a:xfrm>
            <a:off x="766257" y="7184558"/>
            <a:ext cx="16755486" cy="2674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3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includes both </a:t>
            </a:r>
            <a:r>
              <a:rPr b="1" i="0" lang="en-US" sz="383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categorical data</a:t>
            </a:r>
            <a:r>
              <a:rPr b="0" i="0" lang="en-US" sz="383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(like Manufacturer, Model, Vehicle Type) and </a:t>
            </a:r>
            <a:r>
              <a:rPr b="1" i="0" lang="en-US" sz="383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numerical data </a:t>
            </a:r>
            <a:r>
              <a:rPr b="0" i="0" lang="en-US" sz="383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(like Sales, Price, Engine Size, Horsepower, etc.)</a:t>
            </a:r>
            <a:endParaRPr/>
          </a:p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83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2149991" y="9035341"/>
            <a:ext cx="12557671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1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consists of 157 Rows and 16 Columns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A6A6A6"/>
            </a:gs>
            <a:gs pos="100000">
              <a:srgbClr val="FFFFFF"/>
            </a:gs>
          </a:gsLst>
          <a:lin ang="0" scaled="0"/>
        </a:gra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3"/>
          <p:cNvGrpSpPr/>
          <p:nvPr/>
        </p:nvGrpSpPr>
        <p:grpSpPr>
          <a:xfrm>
            <a:off x="5918817" y="-121004"/>
            <a:ext cx="27139305" cy="2737489"/>
            <a:chOff x="0" y="-19050"/>
            <a:chExt cx="21945600" cy="2213610"/>
          </a:xfrm>
        </p:grpSpPr>
        <p:sp>
          <p:nvSpPr>
            <p:cNvPr id="114" name="Google Shape;114;p3"/>
            <p:cNvSpPr/>
            <p:nvPr/>
          </p:nvSpPr>
          <p:spPr>
            <a:xfrm>
              <a:off x="0" y="0"/>
              <a:ext cx="21945600" cy="2194560"/>
            </a:xfrm>
            <a:custGeom>
              <a:rect b="b" l="l" r="r" t="t"/>
              <a:pathLst>
                <a:path extrusionOk="0" h="21945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94560"/>
                  </a:lnTo>
                  <a:lnTo>
                    <a:pt x="0" y="2194560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115" name="Google Shape;115;p3"/>
            <p:cNvSpPr txBox="1"/>
            <p:nvPr/>
          </p:nvSpPr>
          <p:spPr>
            <a:xfrm>
              <a:off x="0" y="-19050"/>
              <a:ext cx="21945600" cy="2213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8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Null Values</a:t>
              </a:r>
              <a:endParaRPr/>
            </a:p>
          </p:txBody>
        </p:sp>
      </p:grpSp>
      <p:sp>
        <p:nvSpPr>
          <p:cNvPr id="116" name="Google Shape;116;p3"/>
          <p:cNvSpPr/>
          <p:nvPr/>
        </p:nvSpPr>
        <p:spPr>
          <a:xfrm>
            <a:off x="2318443" y="2054562"/>
            <a:ext cx="11301259" cy="5156199"/>
          </a:xfrm>
          <a:custGeom>
            <a:rect b="b" l="l" r="r" t="t"/>
            <a:pathLst>
              <a:path extrusionOk="0" h="5156199" w="11301259">
                <a:moveTo>
                  <a:pt x="0" y="0"/>
                </a:moveTo>
                <a:lnTo>
                  <a:pt x="11301259" y="0"/>
                </a:lnTo>
                <a:lnTo>
                  <a:pt x="11301259" y="5156200"/>
                </a:lnTo>
                <a:lnTo>
                  <a:pt x="0" y="5156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7" name="Google Shape;117;p3"/>
          <p:cNvSpPr txBox="1"/>
          <p:nvPr/>
        </p:nvSpPr>
        <p:spPr>
          <a:xfrm>
            <a:off x="1063776" y="7527338"/>
            <a:ext cx="15445275" cy="232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9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Talking about the Null Values, we can clearly see that some dataset like ‘Resale Value’ , ‘Price’ , ‘ Engine size’ ,etc have null values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A6A6A6"/>
            </a:gs>
            <a:gs pos="100000">
              <a:srgbClr val="FFFFFF"/>
            </a:gs>
          </a:gsLst>
          <a:lin ang="0" scaled="0"/>
        </a:gra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/>
          <p:nvPr/>
        </p:nvSpPr>
        <p:spPr>
          <a:xfrm>
            <a:off x="4273037" y="2020138"/>
            <a:ext cx="9872521" cy="4516678"/>
          </a:xfrm>
          <a:custGeom>
            <a:rect b="b" l="l" r="r" t="t"/>
            <a:pathLst>
              <a:path extrusionOk="0" h="4516678" w="9872521">
                <a:moveTo>
                  <a:pt x="0" y="0"/>
                </a:moveTo>
                <a:lnTo>
                  <a:pt x="9872520" y="0"/>
                </a:lnTo>
                <a:lnTo>
                  <a:pt x="9872520" y="4516679"/>
                </a:lnTo>
                <a:lnTo>
                  <a:pt x="0" y="45166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7" name="Google Shape;127;p4"/>
          <p:cNvSpPr txBox="1"/>
          <p:nvPr/>
        </p:nvSpPr>
        <p:spPr>
          <a:xfrm>
            <a:off x="4776226" y="660311"/>
            <a:ext cx="9246386" cy="10311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4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Treatment of Null Values</a:t>
            </a:r>
            <a:endParaRPr/>
          </a:p>
        </p:txBody>
      </p:sp>
      <p:sp>
        <p:nvSpPr>
          <p:cNvPr id="128" name="Google Shape;128;p4"/>
          <p:cNvSpPr txBox="1"/>
          <p:nvPr/>
        </p:nvSpPr>
        <p:spPr>
          <a:xfrm>
            <a:off x="1386287" y="6784467"/>
            <a:ext cx="16486019" cy="13115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In order to treat all the null values, we have to drop the null values using ‘Dropna’ , which removes all rows containing null values</a:t>
            </a:r>
            <a:endParaRPr/>
          </a:p>
        </p:txBody>
      </p:sp>
      <p:sp>
        <p:nvSpPr>
          <p:cNvPr id="129" name="Google Shape;129;p4"/>
          <p:cNvSpPr txBox="1"/>
          <p:nvPr/>
        </p:nvSpPr>
        <p:spPr>
          <a:xfrm>
            <a:off x="1849691" y="8327377"/>
            <a:ext cx="15601768" cy="2453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The parameter </a:t>
            </a:r>
            <a:r>
              <a:rPr b="1" i="0" lang="en-US" sz="35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inplace=True </a:t>
            </a:r>
            <a:r>
              <a:rPr b="0" i="0" lang="en-US" sz="35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ensures that changes are applied directly to the dataset</a:t>
            </a:r>
            <a:endParaRPr/>
          </a:p>
          <a:p>
            <a:pPr indent="0" lvl="0" marL="0" marR="0" rtl="0" algn="ctr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9D9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"/>
          <p:cNvSpPr txBox="1"/>
          <p:nvPr/>
        </p:nvSpPr>
        <p:spPr>
          <a:xfrm>
            <a:off x="1028700" y="3065380"/>
            <a:ext cx="15081943" cy="27798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4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•After removing null values, the dataset becomes cleaner and more reliable for analysis and visualization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94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94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5"/>
          <p:cNvSpPr txBox="1"/>
          <p:nvPr/>
        </p:nvSpPr>
        <p:spPr>
          <a:xfrm>
            <a:off x="1263324" y="5067300"/>
            <a:ext cx="14612695" cy="6831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8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•Furthermore, the </a:t>
            </a:r>
            <a:r>
              <a:rPr b="1" i="0" lang="en-US" sz="398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Datatype </a:t>
            </a:r>
            <a:r>
              <a:rPr b="0" i="0" lang="en-US" sz="398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 the dataset is also provided</a:t>
            </a:r>
            <a:endParaRPr/>
          </a:p>
        </p:txBody>
      </p:sp>
      <p:sp>
        <p:nvSpPr>
          <p:cNvPr id="140" name="Google Shape;140;p5"/>
          <p:cNvSpPr txBox="1"/>
          <p:nvPr/>
        </p:nvSpPr>
        <p:spPr>
          <a:xfrm>
            <a:off x="2313686" y="6344547"/>
            <a:ext cx="11072040" cy="232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example:- Manufacturer is Object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Sales is Float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Vehicle type is Object,etc</a:t>
            </a:r>
            <a:endParaRPr/>
          </a:p>
        </p:txBody>
      </p:sp>
      <p:sp>
        <p:nvSpPr>
          <p:cNvPr id="141" name="Google Shape;141;p5"/>
          <p:cNvSpPr txBox="1"/>
          <p:nvPr/>
        </p:nvSpPr>
        <p:spPr>
          <a:xfrm>
            <a:off x="1028700" y="1704629"/>
            <a:ext cx="16768465" cy="1436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•This method helps in maintaining data accuracy and consistency </a:t>
            </a:r>
            <a:endParaRPr/>
          </a:p>
          <a:p>
            <a:pPr indent="0" lvl="0" marL="0" marR="0" rtl="0" algn="ctr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1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A6A6A6"/>
            </a:gs>
            <a:gs pos="100000">
              <a:srgbClr val="FFFFFF"/>
            </a:gs>
          </a:gsLst>
          <a:lin ang="0" scaled="0"/>
        </a:gra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"/>
          <p:cNvSpPr/>
          <p:nvPr/>
        </p:nvSpPr>
        <p:spPr>
          <a:xfrm>
            <a:off x="4246619" y="1891864"/>
            <a:ext cx="9999097" cy="4562088"/>
          </a:xfrm>
          <a:custGeom>
            <a:rect b="b" l="l" r="r" t="t"/>
            <a:pathLst>
              <a:path extrusionOk="0" h="4562088" w="9999097">
                <a:moveTo>
                  <a:pt x="0" y="0"/>
                </a:moveTo>
                <a:lnTo>
                  <a:pt x="9999097" y="0"/>
                </a:lnTo>
                <a:lnTo>
                  <a:pt x="9999097" y="4562088"/>
                </a:lnTo>
                <a:lnTo>
                  <a:pt x="0" y="45620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1" name="Google Shape;151;p6"/>
          <p:cNvSpPr txBox="1"/>
          <p:nvPr/>
        </p:nvSpPr>
        <p:spPr>
          <a:xfrm>
            <a:off x="6553448" y="482117"/>
            <a:ext cx="5487606" cy="1164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insights</a:t>
            </a:r>
            <a:endParaRPr/>
          </a:p>
        </p:txBody>
      </p:sp>
      <p:sp>
        <p:nvSpPr>
          <p:cNvPr id="152" name="Google Shape;152;p6"/>
          <p:cNvSpPr txBox="1"/>
          <p:nvPr/>
        </p:nvSpPr>
        <p:spPr>
          <a:xfrm>
            <a:off x="1655558" y="6625402"/>
            <a:ext cx="14879986" cy="297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3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•The bar plot compares car sales (in thousands) across different manufacturers.</a:t>
            </a:r>
            <a:endParaRPr/>
          </a:p>
          <a:p>
            <a:pPr indent="0" lvl="0" marL="0" marR="0" rtl="0" algn="ctr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23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23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6"/>
          <p:cNvSpPr txBox="1"/>
          <p:nvPr/>
        </p:nvSpPr>
        <p:spPr>
          <a:xfrm>
            <a:off x="1502307" y="8169219"/>
            <a:ext cx="15589889" cy="27876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5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•Brands like Ford, Chevrolet, and Toyota show higher sales, indicating stronger market performance</a:t>
            </a:r>
            <a:endParaRPr/>
          </a:p>
          <a:p>
            <a:pPr indent="0" lvl="0" marL="0" marR="0" rtl="0" algn="ctr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A6A6A6"/>
            </a:gs>
            <a:gs pos="100000">
              <a:srgbClr val="FFFFFF"/>
            </a:gs>
          </a:gsLst>
          <a:lin ang="0" scaled="0"/>
        </a:gra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"/>
          <p:cNvSpPr/>
          <p:nvPr/>
        </p:nvSpPr>
        <p:spPr>
          <a:xfrm>
            <a:off x="3493371" y="1028700"/>
            <a:ext cx="11301259" cy="5184453"/>
          </a:xfrm>
          <a:custGeom>
            <a:rect b="b" l="l" r="r" t="t"/>
            <a:pathLst>
              <a:path extrusionOk="0" h="5184453" w="11301259">
                <a:moveTo>
                  <a:pt x="0" y="0"/>
                </a:moveTo>
                <a:lnTo>
                  <a:pt x="11301258" y="0"/>
                </a:lnTo>
                <a:lnTo>
                  <a:pt x="11301258" y="5184453"/>
                </a:lnTo>
                <a:lnTo>
                  <a:pt x="0" y="51844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3" name="Google Shape;163;p7"/>
          <p:cNvSpPr txBox="1"/>
          <p:nvPr/>
        </p:nvSpPr>
        <p:spPr>
          <a:xfrm>
            <a:off x="1355335" y="6579982"/>
            <a:ext cx="15526246" cy="1884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•The scatter plot shows the relationship between horsepower and car price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7"/>
          <p:cNvSpPr txBox="1"/>
          <p:nvPr/>
        </p:nvSpPr>
        <p:spPr>
          <a:xfrm>
            <a:off x="1303415" y="8104183"/>
            <a:ext cx="15630086" cy="20787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4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•There is a clear positive correlation—as horsepower increases, the price of cars also increases.</a:t>
            </a:r>
            <a:endParaRPr/>
          </a:p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94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A6A6A6"/>
            </a:gs>
            <a:gs pos="100000">
              <a:srgbClr val="FFFFFF"/>
            </a:gs>
          </a:gsLst>
          <a:lin ang="0" scaled="0"/>
        </a:gra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"/>
          <p:cNvSpPr/>
          <p:nvPr/>
        </p:nvSpPr>
        <p:spPr>
          <a:xfrm>
            <a:off x="3493371" y="1028700"/>
            <a:ext cx="11301259" cy="5142073"/>
          </a:xfrm>
          <a:custGeom>
            <a:rect b="b" l="l" r="r" t="t"/>
            <a:pathLst>
              <a:path extrusionOk="0" h="5142073" w="11301259">
                <a:moveTo>
                  <a:pt x="0" y="0"/>
                </a:moveTo>
                <a:lnTo>
                  <a:pt x="11301258" y="0"/>
                </a:lnTo>
                <a:lnTo>
                  <a:pt x="11301258" y="5142073"/>
                </a:lnTo>
                <a:lnTo>
                  <a:pt x="0" y="51420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4" name="Google Shape;174;p8"/>
          <p:cNvSpPr txBox="1"/>
          <p:nvPr/>
        </p:nvSpPr>
        <p:spPr>
          <a:xfrm>
            <a:off x="1242476" y="6391224"/>
            <a:ext cx="15329247" cy="2307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The histogram shows the distribution of car prices in the dataset</a:t>
            </a:r>
            <a:endParaRPr/>
          </a:p>
          <a:p>
            <a:pPr indent="0" lvl="0" marL="0" marR="0" rtl="0" algn="ctr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35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8"/>
          <p:cNvSpPr txBox="1"/>
          <p:nvPr/>
        </p:nvSpPr>
        <p:spPr>
          <a:xfrm>
            <a:off x="1424896" y="8179305"/>
            <a:ext cx="15795795" cy="2036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•The dataset is dominated by mid-range cars, with only a few high-priced vehicles.</a:t>
            </a:r>
            <a:endParaRPr/>
          </a:p>
          <a:p>
            <a:pPr indent="0" lvl="0" marL="0" marR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8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A6A6A6"/>
            </a:gs>
            <a:gs pos="100000">
              <a:srgbClr val="FFFFFF"/>
            </a:gs>
          </a:gsLst>
          <a:lin ang="0" scaled="0"/>
        </a:gra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"/>
          <p:cNvSpPr/>
          <p:nvPr/>
        </p:nvSpPr>
        <p:spPr>
          <a:xfrm>
            <a:off x="3902041" y="654110"/>
            <a:ext cx="11301259" cy="5198579"/>
          </a:xfrm>
          <a:custGeom>
            <a:rect b="b" l="l" r="r" t="t"/>
            <a:pathLst>
              <a:path extrusionOk="0" h="5198579" w="11301259">
                <a:moveTo>
                  <a:pt x="0" y="0"/>
                </a:moveTo>
                <a:lnTo>
                  <a:pt x="11301259" y="0"/>
                </a:lnTo>
                <a:lnTo>
                  <a:pt x="11301259" y="5198579"/>
                </a:lnTo>
                <a:lnTo>
                  <a:pt x="0" y="5198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5" name="Google Shape;185;p9"/>
          <p:cNvSpPr txBox="1"/>
          <p:nvPr/>
        </p:nvSpPr>
        <p:spPr>
          <a:xfrm>
            <a:off x="459871" y="6107383"/>
            <a:ext cx="17470426" cy="2191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6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•The box plot compares fuel efficiency across different vehicle types</a:t>
            </a:r>
            <a:endParaRPr/>
          </a:p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16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16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9"/>
          <p:cNvSpPr txBox="1"/>
          <p:nvPr/>
        </p:nvSpPr>
        <p:spPr>
          <a:xfrm>
            <a:off x="1076920" y="7277888"/>
            <a:ext cx="16236328" cy="2429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61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•Passenger-type vehicles tend to be more fuel-efficient compared to standard cars.</a:t>
            </a:r>
            <a:endParaRPr/>
          </a:p>
          <a:p>
            <a:pPr indent="0" lvl="0" marL="0" marR="0" rtl="0" algn="ctr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61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A6A6A6"/>
            </a:gs>
            <a:gs pos="100000">
              <a:srgbClr val="FFFFFF"/>
            </a:gs>
          </a:gsLst>
          <a:lin ang="0" scaled="0"/>
        </a:gra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"/>
          <p:cNvSpPr/>
          <p:nvPr/>
        </p:nvSpPr>
        <p:spPr>
          <a:xfrm>
            <a:off x="3850957" y="1028700"/>
            <a:ext cx="11301259" cy="5226832"/>
          </a:xfrm>
          <a:custGeom>
            <a:rect b="b" l="l" r="r" t="t"/>
            <a:pathLst>
              <a:path extrusionOk="0" h="5226832" w="11301259">
                <a:moveTo>
                  <a:pt x="0" y="0"/>
                </a:moveTo>
                <a:lnTo>
                  <a:pt x="11301259" y="0"/>
                </a:lnTo>
                <a:lnTo>
                  <a:pt x="11301259" y="5226832"/>
                </a:lnTo>
                <a:lnTo>
                  <a:pt x="0" y="52268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6" name="Google Shape;196;p10"/>
          <p:cNvSpPr txBox="1"/>
          <p:nvPr/>
        </p:nvSpPr>
        <p:spPr>
          <a:xfrm>
            <a:off x="382871" y="6471314"/>
            <a:ext cx="17471175" cy="3131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4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This heatmap shows correlation between numerical variables in the dataset</a:t>
            </a:r>
            <a:endParaRPr/>
          </a:p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44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44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0"/>
          <p:cNvSpPr txBox="1"/>
          <p:nvPr/>
        </p:nvSpPr>
        <p:spPr>
          <a:xfrm>
            <a:off x="1060130" y="8226857"/>
            <a:ext cx="16218823" cy="2506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74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•Sales show moderate relationships with some variables</a:t>
            </a:r>
            <a:endParaRPr/>
          </a:p>
          <a:p>
            <a:pPr indent="0" lvl="0" marL="0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74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74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A6A6A6"/>
            </a:gs>
            <a:gs pos="100000">
              <a:srgbClr val="FFFFFF"/>
            </a:gs>
          </a:gsLst>
          <a:lin ang="0" scaled="0"/>
        </a:gra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"/>
          <p:cNvSpPr/>
          <p:nvPr/>
        </p:nvSpPr>
        <p:spPr>
          <a:xfrm>
            <a:off x="2437239" y="664195"/>
            <a:ext cx="12698350" cy="5791414"/>
          </a:xfrm>
          <a:custGeom>
            <a:rect b="b" l="l" r="r" t="t"/>
            <a:pathLst>
              <a:path extrusionOk="0" h="5791414" w="12698350">
                <a:moveTo>
                  <a:pt x="0" y="0"/>
                </a:moveTo>
                <a:lnTo>
                  <a:pt x="12698349" y="0"/>
                </a:lnTo>
                <a:lnTo>
                  <a:pt x="12698349" y="5791414"/>
                </a:lnTo>
                <a:lnTo>
                  <a:pt x="0" y="57914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7" name="Google Shape;207;p11"/>
          <p:cNvSpPr txBox="1"/>
          <p:nvPr/>
        </p:nvSpPr>
        <p:spPr>
          <a:xfrm>
            <a:off x="1177200" y="7285500"/>
            <a:ext cx="17110800" cy="30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64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•The line chart shows sales variation across different car models.</a:t>
            </a:r>
            <a:endParaRPr/>
          </a:p>
          <a:p>
            <a:pPr indent="0" lvl="0" marL="0" marR="0" rtl="0" algn="ctr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64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64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1"/>
          <p:cNvSpPr txBox="1"/>
          <p:nvPr/>
        </p:nvSpPr>
        <p:spPr>
          <a:xfrm>
            <a:off x="1501005" y="8247171"/>
            <a:ext cx="14724069" cy="22014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8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•Car sales are unevenly distributed—only a few models achieve very high sales, while most perform moderately</a:t>
            </a:r>
            <a:endParaRPr/>
          </a:p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18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A6A6A6"/>
            </a:gs>
            <a:gs pos="100000">
              <a:srgbClr val="FFFFFF"/>
            </a:gs>
          </a:gsLst>
          <a:lin ang="0" scaled="0"/>
        </a:gra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"/>
          <p:cNvSpPr txBox="1"/>
          <p:nvPr/>
        </p:nvSpPr>
        <p:spPr>
          <a:xfrm>
            <a:off x="5856440" y="4218265"/>
            <a:ext cx="6575124" cy="168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